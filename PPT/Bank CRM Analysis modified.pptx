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89" r:id="rId7"/>
    <p:sldId id="292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2" r:id="rId20"/>
    <p:sldId id="311" r:id="rId21"/>
    <p:sldId id="297" r:id="rId22"/>
    <p:sldId id="295" r:id="rId23"/>
    <p:sldId id="313" r:id="rId24"/>
    <p:sldId id="314" r:id="rId25"/>
    <p:sldId id="294" r:id="rId26"/>
    <p:sldId id="29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46" autoAdjust="0"/>
  </p:normalViewPr>
  <p:slideViewPr>
    <p:cSldViewPr snapToGrid="0">
      <p:cViewPr varScale="1">
        <p:scale>
          <a:sx n="70" d="100"/>
          <a:sy n="70" d="100"/>
        </p:scale>
        <p:origin x="702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ngel\Downloads\Bank%20crm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gel\Downloads\Bank%20cr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ngel\Downloads\Bank%20crm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ngel\Downloads\Bank%20crm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Gender wise Avg Income in each Region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'Gender wise income in reagion'!$C$1</c:f>
              <c:strCache>
                <c:ptCount val="1"/>
                <c:pt idx="0">
                  <c:v>Avg_Income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'Gender wise income in reagion'!$A$2:$B$7</c:f>
              <c:multiLvlStrCache>
                <c:ptCount val="6"/>
                <c:lvl>
                  <c:pt idx="0">
                    <c:v>Male</c:v>
                  </c:pt>
                  <c:pt idx="1">
                    <c:v>Female</c:v>
                  </c:pt>
                  <c:pt idx="2">
                    <c:v>Female</c:v>
                  </c:pt>
                  <c:pt idx="3">
                    <c:v>Male</c:v>
                  </c:pt>
                  <c:pt idx="4">
                    <c:v>Female</c:v>
                  </c:pt>
                  <c:pt idx="5">
                    <c:v>Male</c:v>
                  </c:pt>
                </c:lvl>
                <c:lvl>
                  <c:pt idx="0">
                    <c:v>France</c:v>
                  </c:pt>
                  <c:pt idx="1">
                    <c:v>France</c:v>
                  </c:pt>
                  <c:pt idx="2">
                    <c:v>Germany</c:v>
                  </c:pt>
                  <c:pt idx="3">
                    <c:v>Germany</c:v>
                  </c:pt>
                  <c:pt idx="4">
                    <c:v>Spain</c:v>
                  </c:pt>
                  <c:pt idx="5">
                    <c:v>Spain</c:v>
                  </c:pt>
                </c:lvl>
              </c:multiLvlStrCache>
            </c:multiLvlStrRef>
          </c:cat>
          <c:val>
            <c:numRef>
              <c:f>'Gender wise income in reagion'!$C$2:$C$7</c:f>
              <c:numCache>
                <c:formatCode>0.00</c:formatCode>
                <c:ptCount val="6"/>
                <c:pt idx="0">
                  <c:v>100174.25249545899</c:v>
                </c:pt>
                <c:pt idx="1">
                  <c:v>99564.2527554181</c:v>
                </c:pt>
                <c:pt idx="2">
                  <c:v>102446.42412405703</c:v>
                </c:pt>
                <c:pt idx="3">
                  <c:v>99905.033958966465</c:v>
                </c:pt>
                <c:pt idx="4">
                  <c:v>100734.10747474703</c:v>
                </c:pt>
                <c:pt idx="5">
                  <c:v>98425.687680115196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ACE-49D7-825A-75A4D98BBB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46328688"/>
        <c:axId val="-246343776"/>
      </c:barChart>
      <c:catAx>
        <c:axId val="-4632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46343776"/>
        <c:crosses val="autoZero"/>
        <c:auto val="1"/>
        <c:lblAlgn val="ctr"/>
        <c:lblOffset val="100"/>
        <c:noMultiLvlLbl val="0"/>
      </c:catAx>
      <c:valAx>
        <c:axId val="-24634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6328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crm.xlsx]Sheet2!PivotTable76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Churn count by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Sheet2!$G$31:$G$32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Sheet2!$F$33:$F$36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Spain</c:v>
                </c:pt>
              </c:strCache>
            </c:strRef>
          </c:cat>
          <c:val>
            <c:numRef>
              <c:f>Sheet2!$G$33:$G$36</c:f>
              <c:numCache>
                <c:formatCode>General</c:formatCode>
                <c:ptCount val="3"/>
                <c:pt idx="0">
                  <c:v>4204</c:v>
                </c:pt>
                <c:pt idx="1">
                  <c:v>1695</c:v>
                </c:pt>
                <c:pt idx="2">
                  <c:v>2064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13C-46F9-A50F-9624ECAFAE32}"/>
            </c:ext>
          </c:extLst>
        </c:ser>
        <c:ser>
          <c:idx val="1"/>
          <c:order val="1"/>
          <c:tx>
            <c:strRef>
              <c:f>Sheet2!$H$31:$H$32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Sheet2!$F$33:$F$36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Spain</c:v>
                </c:pt>
              </c:strCache>
            </c:strRef>
          </c:cat>
          <c:val>
            <c:numRef>
              <c:f>Sheet2!$H$33:$H$36</c:f>
              <c:numCache>
                <c:formatCode>General</c:formatCode>
                <c:ptCount val="3"/>
                <c:pt idx="0">
                  <c:v>810</c:v>
                </c:pt>
                <c:pt idx="1">
                  <c:v>814</c:v>
                </c:pt>
                <c:pt idx="2">
                  <c:v>413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13C-46F9-A50F-9624ECAFAE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130026240"/>
        <c:axId val="-2130024608"/>
      </c:barChart>
      <c:catAx>
        <c:axId val="-213002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24608"/>
        <c:crosses val="autoZero"/>
        <c:auto val="1"/>
        <c:lblAlgn val="ctr"/>
        <c:lblOffset val="100"/>
        <c:noMultiLvlLbl val="0"/>
      </c:catAx>
      <c:valAx>
        <c:axId val="-213002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2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Churned Customers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'churned , credicard'!$B$2</c:f>
              <c:strCache>
                <c:ptCount val="1"/>
                <c:pt idx="0">
                  <c:v>ChurnedCustomers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'churned , credicard'!$A$3:$A$7</c:f>
              <c:strCache>
                <c:ptCount val="5"/>
                <c:pt idx="0">
                  <c:v>600-699</c:v>
                </c:pt>
                <c:pt idx="1">
                  <c:v>500-599</c:v>
                </c:pt>
                <c:pt idx="2">
                  <c:v>700-799</c:v>
                </c:pt>
                <c:pt idx="3">
                  <c:v>300-499</c:v>
                </c:pt>
                <c:pt idx="4">
                  <c:v>800-900</c:v>
                </c:pt>
              </c:strCache>
            </c:strRef>
          </c:cat>
          <c:val>
            <c:numRef>
              <c:f>'churned , credicard'!$B$3:$B$7</c:f>
              <c:numCache>
                <c:formatCode>General</c:formatCode>
                <c:ptCount val="5"/>
                <c:pt idx="0">
                  <c:v>753</c:v>
                </c:pt>
                <c:pt idx="1">
                  <c:v>510</c:v>
                </c:pt>
                <c:pt idx="2">
                  <c:v>496</c:v>
                </c:pt>
                <c:pt idx="3">
                  <c:v>150</c:v>
                </c:pt>
                <c:pt idx="4">
                  <c:v>128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4D6-446D-8E0B-EA6F2B8670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130030592"/>
        <c:axId val="-2130027328"/>
      </c:barChart>
      <c:catAx>
        <c:axId val="-213003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27328"/>
        <c:crosses val="autoZero"/>
        <c:auto val="1"/>
        <c:lblAlgn val="ctr"/>
        <c:lblOffset val="100"/>
        <c:noMultiLvlLbl val="0"/>
      </c:catAx>
      <c:valAx>
        <c:axId val="-2130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30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CreditCardHolders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'churned , credicard'!$B$22</c:f>
              <c:strCache>
                <c:ptCount val="1"/>
                <c:pt idx="0">
                  <c:v>CreditCardHolders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'churned , credicard'!$A$23:$A$26</c:f>
              <c:strCache>
                <c:ptCount val="4"/>
                <c:pt idx="0">
                  <c:v>46-55</c:v>
                </c:pt>
                <c:pt idx="1">
                  <c:v>18-25</c:v>
                </c:pt>
                <c:pt idx="2">
                  <c:v>56-65</c:v>
                </c:pt>
                <c:pt idx="3">
                  <c:v>65+</c:v>
                </c:pt>
              </c:strCache>
            </c:strRef>
          </c:cat>
          <c:val>
            <c:numRef>
              <c:f>'churned , credicard'!$B$23:$B$26</c:f>
              <c:numCache>
                <c:formatCode>General</c:formatCode>
                <c:ptCount val="4"/>
                <c:pt idx="0">
                  <c:v>911</c:v>
                </c:pt>
                <c:pt idx="1">
                  <c:v>426</c:v>
                </c:pt>
                <c:pt idx="2">
                  <c:v>381</c:v>
                </c:pt>
                <c:pt idx="3">
                  <c:v>187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4C9-4FFD-AE06-F906D7AA6C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130026784"/>
        <c:axId val="-2130028416"/>
      </c:barChart>
      <c:catAx>
        <c:axId val="-2130026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28416"/>
        <c:crosses val="autoZero"/>
        <c:auto val="1"/>
        <c:lblAlgn val="ctr"/>
        <c:lblOffset val="100"/>
        <c:noMultiLvlLbl val="0"/>
      </c:catAx>
      <c:valAx>
        <c:axId val="-213002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0026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2E15AE-94E1-803E-1F36-76BEF74B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EC67092-6DF6-2B75-5F2A-109971468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61BC3A7-F7B6-C04E-B9AA-25046816A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0F10156-A424-E733-19A7-3E6242CEF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499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47CAB2-14B8-25A7-5868-AC69762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BFCD32E-A5FA-6515-E6CF-AD112EF8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B1D5C86-DB38-E18E-6290-B64E960C6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BE5E6FD-B357-670B-E5DC-200B02571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89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E2C650-D6E8-D042-5BC0-7C05970A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D23AFCA-10F1-84B3-F7BA-8F85D8E66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289BB8D-3E7F-4729-1DF7-AC772F95A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BF8F4AD-4D8F-DFBE-E723-8AB03E4AA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83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D37F51-48F9-F2FA-5B03-1FD73E38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B7E165C-FE2B-9875-1A38-B3337998D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F0BCBCF-2021-28E3-A546-799C157C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43DDC0-A6E7-783D-0153-BB3F5B916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41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C0D220-91B0-9217-A0E0-41F7BD49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B586EF9-28D1-A0D2-25C6-65D9172EA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B1C7119-3815-655D-ECB4-97FC74ED0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0759127-B9E8-89F7-07A1-79E1572CD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36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6FB2C3-D705-8727-EB12-67C5B06E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8FB8651-587F-7CA9-94AF-D9F49FB25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131A338-BAFE-0EF4-D583-476AFAF7A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9861F30-9235-535D-ED05-2B8717096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391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039168-BEC4-DA18-BC77-C18DC238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886BFE5-84B7-AB31-DF2D-D44BF8DF5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1478915-19F4-C5D8-D64A-7BCD55F44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5523B11-B679-4AE3-D41F-63FEBE49E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48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60927C-B632-E766-ADAC-F1B8C6F3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275816-C6CA-594B-D6AE-A61841206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81CCFAD-38BA-F489-BC7B-7EA33946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49E1F1-AD5C-4792-60CE-B6D1C4B07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1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C9BA65-D194-F2FB-22ED-8C019945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E7FC301-139D-F3D7-E42D-66EC59340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CDF40DF-EE53-5D54-CC03-ECD8C1D3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45E5EC8-3CE5-AD4F-FA7F-E9DCCEE96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389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A4CD53-EF4C-C6B6-EF10-6B8FD5F8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58E4A6E-4CF4-14F9-91B5-B39559EC8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21F332A-101C-4C02-E0F6-4CD4403C9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2B7E3B8-CF66-217D-2778-D00CFD3ED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22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FDE78C-2EDA-0D92-CF11-126FF8DA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418DD46-FC27-B5D4-C851-3AEF850F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2AE4CE9-AE0A-6982-5323-96F004418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578B95C-CB72-A394-7594-F39A7DD1E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943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C4262C-9A00-8DDF-A30D-BEBDAEF4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0B8F8B7-2144-8AE4-73F2-3A7CDF43F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7A7173B-BDF2-DD5F-CC16-F0F3FC316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BD79920-543A-86BF-60E0-116BC2AEF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594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1CEF13-1192-2B2A-DFC4-593F2E7B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9811D56-897D-E60D-0FE8-1E6215A9B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0166C6C-5FBB-8738-BA14-E0F974D51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C99D6E5-324B-390F-2042-3AD7F8F7E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43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067E82-E5F7-15C2-6BC0-810B0C2F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564318E-91FE-3F60-8623-D0FA39EC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E37C4DC-60A7-A983-7F95-A4053E93D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817BD29-54D9-F2AB-6464-23F4D05A9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729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265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FDFD752-A5F5-ACAB-4CFF-7864081EA7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xmlns="" id="{3B60DF8E-225C-FF27-D2F3-E46E00A1CB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xmlns="" id="{E2BD34E5-FF91-6F1E-D0A0-AB89C52B30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xmlns="" id="{B2F831AC-BA58-EDC2-5862-D0D27F6FBFD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3792667B-6586-45E7-861D-4DE3E483DE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xmlns="" id="{068BA2B6-F4E3-C54C-90C9-B75BB169EF05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xmlns="" id="{02BE11C2-C13D-0576-77EE-48F281575F6C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234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2332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750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2388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6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121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129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991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5093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1997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919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691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287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239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3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26605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C79249-FDC0-364D-A734-AE1DE1605D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13537B6D-42A5-F449-2691-321A167F7C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xmlns="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xmlns="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xmlns="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xmlns="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xmlns="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2154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CEDB282-8288-C81F-52B5-048A3E80C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47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CEDB282-8288-C81F-52B5-048A3E80C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xmlns="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60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4DB56B5-5DD7-95E3-52B2-EDC4B3F130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xmlns="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xmlns="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xmlns="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5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BA2A58C-57B7-834C-8F5C-3299322411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905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79F46B00-4AE8-52A2-6926-FC2F5DD1FA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xmlns="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xmlns="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xmlns="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407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816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2" r:id="rId21"/>
    <p:sldLayoutId id="2147483784" r:id="rId22"/>
    <p:sldLayoutId id="2147483785" r:id="rId2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CRM Analysis</a:t>
            </a:r>
            <a:br>
              <a:rPr lang="en-US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Power Bi Project					By</a:t>
            </a:r>
            <a:br>
              <a:rPr lang="en-US" sz="2000" dirty="0"/>
            </a:br>
            <a:r>
              <a:rPr lang="en-US" sz="2000" dirty="0"/>
              <a:t>					       			  </a:t>
            </a:r>
            <a:r>
              <a:rPr lang="en-US" sz="2000" dirty="0" smtClean="0"/>
              <a:t>JAYESH MALI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Metrics and their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Conclusion.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CRM Analysis: Customer Relationship Management </a:t>
            </a:r>
            <a:r>
              <a:rPr lang="en-US" sz="8000" dirty="0"/>
              <a:t>analysis is the process of using customer data to understand behavior , improve relationships and drive business growth.</a:t>
            </a:r>
          </a:p>
          <a:p>
            <a:pPr marL="0" indent="0">
              <a:buNone/>
            </a:pPr>
            <a:r>
              <a:rPr lang="en-US" sz="8000" b="1" dirty="0"/>
              <a:t>Why?</a:t>
            </a:r>
            <a:endParaRPr lang="en-US" sz="1100" b="1" dirty="0"/>
          </a:p>
          <a:p>
            <a:r>
              <a:rPr lang="en-US" sz="8000" b="1" dirty="0"/>
              <a:t>Understand Customers Better</a:t>
            </a:r>
            <a:r>
              <a:rPr lang="en-US" sz="8000" dirty="0"/>
              <a:t> – track preferences, behavior, and needs.</a:t>
            </a:r>
          </a:p>
          <a:p>
            <a:r>
              <a:rPr lang="en-US" sz="8000" b="1" dirty="0"/>
              <a:t>Increase Customer Retention</a:t>
            </a:r>
            <a:r>
              <a:rPr lang="en-US" sz="8000" dirty="0"/>
              <a:t> – identify customers at risk of churn.</a:t>
            </a:r>
          </a:p>
          <a:p>
            <a:r>
              <a:rPr lang="en-US" sz="8000" b="1" dirty="0"/>
              <a:t>Boost Sales</a:t>
            </a:r>
            <a:r>
              <a:rPr lang="en-US" sz="8000" dirty="0"/>
              <a:t> – upsell &amp; cross-sell opportunities.</a:t>
            </a:r>
          </a:p>
          <a:p>
            <a:r>
              <a:rPr lang="en-US" sz="8000" b="1" dirty="0"/>
              <a:t>Personalized Marketing</a:t>
            </a:r>
            <a:r>
              <a:rPr lang="en-US" sz="8000" dirty="0"/>
              <a:t> – segment customers for targeted campaigns.</a:t>
            </a:r>
          </a:p>
          <a:p>
            <a:r>
              <a:rPr lang="en-US" sz="8000" b="1" dirty="0"/>
              <a:t>Better Decision-Making</a:t>
            </a:r>
            <a:r>
              <a:rPr lang="en-US" sz="8000" dirty="0"/>
              <a:t> – data-driven insights, not guesswork</a:t>
            </a:r>
            <a:r>
              <a:rPr lang="en-US" sz="8000" dirty="0">
                <a:solidFill>
                  <a:schemeClr val="tx1"/>
                </a:solidFill>
              </a:rPr>
              <a:t>.</a:t>
            </a:r>
            <a:endParaRPr lang="en-US" sz="8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b="1" dirty="0"/>
              <a:t>Objective:</a:t>
            </a:r>
          </a:p>
          <a:p>
            <a:r>
              <a:rPr lang="en-US" dirty="0"/>
              <a:t>To analyze customer demographics , transactions and churn patter using Power Bi and identify key factors influencing customer churn and dissatisfaction .</a:t>
            </a:r>
          </a:p>
          <a:p>
            <a:r>
              <a:rPr lang="en-US" dirty="0"/>
              <a:t>	The bank aims to reduce customer churn, improve service delivery, and enhance customer satisfaction. </a:t>
            </a:r>
          </a:p>
        </p:txBody>
      </p:sp>
      <p:pic>
        <p:nvPicPr>
          <p:cNvPr id="25" name="Picture Placeholder 24" descr="A couple of people looking at a computer">
            <a:extLst>
              <a:ext uri="{FF2B5EF4-FFF2-40B4-BE49-F238E27FC236}">
                <a16:creationId xmlns:a16="http://schemas.microsoft.com/office/drawing/2014/main" xmlns="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/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FD3C95-C8FB-78AF-C36A-3B41EDC4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7F18B4AE-C3D9-FAD0-840F-34D24E57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Data Overview</a:t>
            </a:r>
          </a:p>
        </p:txBody>
      </p:sp>
      <p:pic>
        <p:nvPicPr>
          <p:cNvPr id="2" name="chart">
            <a:extLst>
              <a:ext uri="{FF2B5EF4-FFF2-40B4-BE49-F238E27FC236}">
                <a16:creationId xmlns:a16="http://schemas.microsoft.com/office/drawing/2014/main" xmlns="" id="{0FA08DDC-5B16-D0EC-5591-F0483FB5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8583"/>
            <a:ext cx="12191999" cy="455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8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136527"/>
            <a:ext cx="9806731" cy="1079878"/>
          </a:xfrm>
        </p:spPr>
        <p:txBody>
          <a:bodyPr/>
          <a:lstStyle/>
          <a:p>
            <a:r>
              <a:rPr lang="en-US" sz="4000" dirty="0"/>
              <a:t>Metric 1 : Customer Count By Age - Group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BA34351-9D9C-8C32-5CC0-3F19A1CAC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xmlns="" id="{FBB8C604-EC1B-D40A-C451-48C46696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44" y="1843741"/>
            <a:ext cx="5230768" cy="37856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6CFF3E-5D48-830D-C5AC-51109A50CAFD}"/>
              </a:ext>
            </a:extLst>
          </p:cNvPr>
          <p:cNvSpPr txBox="1"/>
          <p:nvPr/>
        </p:nvSpPr>
        <p:spPr>
          <a:xfrm>
            <a:off x="5891169" y="1843740"/>
            <a:ext cx="60946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26-45 age group forms the majority of customers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46-55 is a mid-sized segment.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65+ is the smallest , showing low senior penetration.</a:t>
            </a:r>
          </a:p>
          <a:p>
            <a:pPr lvl="0"/>
            <a:endParaRPr lang="en-US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>
              <a:buNone/>
            </a:pPr>
            <a:r>
              <a:rPr lang="en-GB" sz="2000" b="1" dirty="0"/>
              <a:t>Recommendations:</a:t>
            </a:r>
          </a:p>
          <a:p>
            <a:pPr marL="0" indent="0">
              <a:buNone/>
            </a:pP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Focus retention on 26-45 group.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Offer retirement planning for 46-55.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Expand senior-friendly services for 65+.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3A562E-4BFB-0B60-563D-3FA0EC96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02A6CF6-13F9-7FE9-CB76-6DF53122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2 : Number of  Customers by Gender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4F609DB-721D-556A-AA3A-A77C8187E4CE}"/>
              </a:ext>
            </a:extLst>
          </p:cNvPr>
          <p:cNvSpPr txBox="1"/>
          <p:nvPr/>
        </p:nvSpPr>
        <p:spPr>
          <a:xfrm>
            <a:off x="5931017" y="1843740"/>
            <a:ext cx="6054754" cy="3707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majority of customers are </a:t>
            </a:r>
            <a:r>
              <a:rPr lang="en-US" sz="2000" b="1" dirty="0"/>
              <a:t>male (54.57%)</a:t>
            </a:r>
            <a:r>
              <a:rPr lang="en-US" sz="2000" dirty="0"/>
              <a:t>, while </a:t>
            </a:r>
            <a:r>
              <a:rPr lang="en-US" sz="2000" b="1" dirty="0"/>
              <a:t>females make up 45.43%</a:t>
            </a:r>
            <a:r>
              <a:rPr lang="en-US" sz="2000" dirty="0"/>
              <a:t>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Slight gender imbalance allows churn behavior comparison.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endParaRPr lang="en-US" sz="2000" dirty="0"/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  <a:endParaRPr lang="en-US" sz="2000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Use Gender-based analysis to tailor engagement and retention strategies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7673D0E-269B-25B9-B5AB-7E11B31EB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" y="1843741"/>
            <a:ext cx="5594899" cy="37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0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FD78CE-2621-FDAA-7AB7-83A27320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F342323D-D0BA-EB1B-7119-EA6A3C4D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3 : Country Wise Customers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E663FFE-E591-421F-4038-4B63BC73B2F0}"/>
              </a:ext>
            </a:extLst>
          </p:cNvPr>
          <p:cNvSpPr txBox="1"/>
          <p:nvPr/>
        </p:nvSpPr>
        <p:spPr>
          <a:xfrm>
            <a:off x="6096000" y="2162522"/>
            <a:ext cx="6054754" cy="287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France</a:t>
            </a:r>
            <a:r>
              <a:rPr lang="en-US" sz="2000" dirty="0"/>
              <a:t> has the largest customer base with </a:t>
            </a:r>
            <a:r>
              <a:rPr lang="en-US" sz="2000" b="1" dirty="0"/>
              <a:t>50.14%</a:t>
            </a:r>
            <a:r>
              <a:rPr lang="en-US" sz="2000" dirty="0"/>
              <a:t> (5.01K customers).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Germany</a:t>
            </a:r>
            <a:r>
              <a:rPr lang="en-US" sz="2000" dirty="0"/>
              <a:t> and </a:t>
            </a:r>
            <a:r>
              <a:rPr lang="en-US" sz="2000" b="1" dirty="0"/>
              <a:t>Spain</a:t>
            </a:r>
            <a:r>
              <a:rPr lang="en-US" sz="2000" dirty="0"/>
              <a:t> contribute </a:t>
            </a:r>
            <a:r>
              <a:rPr lang="en-US" sz="2000" b="1" dirty="0"/>
              <a:t>25.09%</a:t>
            </a:r>
            <a:r>
              <a:rPr lang="en-US" sz="2000" dirty="0"/>
              <a:t> and </a:t>
            </a:r>
            <a:r>
              <a:rPr lang="en-US" sz="2000" b="1" dirty="0"/>
              <a:t>24.77%</a:t>
            </a:r>
            <a:r>
              <a:rPr lang="en-US" sz="2000" dirty="0"/>
              <a:t>, respectively.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This geographic spread helps in identifying region-wise churn and engagement trends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937134F-95C7-89FF-4880-00C13FB29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4" y="2162522"/>
            <a:ext cx="5507604" cy="28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6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90E78A-2DB4-BD1A-1062-CAB131DE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6356F652-F8CB-0FF3-24BD-8888597B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4: Gender wise Avg Income in each 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16C4FCD-A88A-2693-15FF-7697F7605530}"/>
              </a:ext>
            </a:extLst>
          </p:cNvPr>
          <p:cNvSpPr txBox="1"/>
          <p:nvPr/>
        </p:nvSpPr>
        <p:spPr>
          <a:xfrm>
            <a:off x="6095996" y="2019626"/>
            <a:ext cx="6054754" cy="344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Germany: </a:t>
            </a:r>
            <a:r>
              <a:rPr lang="en-US" sz="2000" dirty="0"/>
              <a:t>Females has the highest average income.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France</a:t>
            </a:r>
            <a:r>
              <a:rPr lang="en-US" sz="2000" dirty="0"/>
              <a:t> : Males earn slightly more than females.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Spain: </a:t>
            </a:r>
            <a:r>
              <a:rPr lang="en-US" sz="2000" dirty="0"/>
              <a:t>Lowest male income , with widest gender gap.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endParaRPr lang="en-US" sz="2000" b="1" dirty="0"/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	Target High-income females in Germany and Spain with premium products.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xmlns="" id="{5816BEF1-F9DF-AB24-67CE-ABD549DCE8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3419019"/>
              </p:ext>
            </p:extLst>
          </p:nvPr>
        </p:nvGraphicFramePr>
        <p:xfrm>
          <a:off x="419999" y="1979802"/>
          <a:ext cx="5435517" cy="3485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0666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C66AA8-C7CD-2AAF-7B79-CEEB3D74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E5499351-9879-7EA3-95CC-A511208C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5: Customers Joining By month and 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9984492-BA96-575D-A0AC-63F422714B9C}"/>
              </a:ext>
            </a:extLst>
          </p:cNvPr>
          <p:cNvSpPr txBox="1"/>
          <p:nvPr/>
        </p:nvSpPr>
        <p:spPr>
          <a:xfrm>
            <a:off x="6095996" y="2019626"/>
            <a:ext cx="6054754" cy="352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Acquisition rose year by year.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Peak Joins: Sep –Dec (Highest in Dec).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Low Joins : Jan – Mar.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2019 showed strongest growth</a:t>
            </a:r>
            <a:r>
              <a:rPr lang="en-US" sz="2000" dirty="0"/>
              <a:t>.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endParaRPr lang="en-US" sz="2000" b="1" dirty="0"/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	Analyze 2019 strategies and replicate </a:t>
            </a:r>
            <a:r>
              <a:rPr lang="en-US" sz="2000" b="1" dirty="0" err="1"/>
              <a:t>successs</a:t>
            </a:r>
            <a:r>
              <a:rPr lang="en-US" sz="2000" b="1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5F12260-8AAD-D0FD-49BC-86A03A8FE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22" y="2019626"/>
            <a:ext cx="5561350" cy="35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5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460E68-D03A-6919-895E-E086C0D9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F78B9799-956F-CDDB-A6EC-FBF9DEAD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6: Churn count By 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30D51D4-5CB5-1A08-DB4E-D1083299B38F}"/>
              </a:ext>
            </a:extLst>
          </p:cNvPr>
          <p:cNvSpPr txBox="1"/>
          <p:nvPr/>
        </p:nvSpPr>
        <p:spPr>
          <a:xfrm>
            <a:off x="6095996" y="2019626"/>
            <a:ext cx="6054754" cy="344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France : Largest Customer Base.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Germany : Smaller base, highest churn.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dirty="0"/>
              <a:t>Spain : Moderate churn.</a:t>
            </a:r>
            <a:endParaRPr lang="en-US" sz="2000" b="1" dirty="0"/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	Address churn in Germany with retention programs and local offers.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Monitor churn trends in France and Spain.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xmlns="" id="{58E91941-7297-6809-6A09-F03E85C60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265973"/>
              </p:ext>
            </p:extLst>
          </p:nvPr>
        </p:nvGraphicFramePr>
        <p:xfrm>
          <a:off x="431799" y="2019626"/>
          <a:ext cx="5471999" cy="3760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716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07F8F0-D312-4007-31E6-EC4C7D20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59B2D06-BDA5-4A3C-1BE2-308C7A39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7: Churn count By Salary Bin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76731EB-B405-0E37-D9CB-49C51B265717}"/>
              </a:ext>
            </a:extLst>
          </p:cNvPr>
          <p:cNvSpPr txBox="1"/>
          <p:nvPr/>
        </p:nvSpPr>
        <p:spPr>
          <a:xfrm>
            <a:off x="5705445" y="1850348"/>
            <a:ext cx="6054754" cy="378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Highest churn : High income followed closely by 100-150K.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Mid-income : Moderate churn.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Lowest churn : &lt; 50k group.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	Retain high income customers with premium services and wealth management.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Safeguard mid-income with competitive offerings..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BC05C48-0DDA-A8A3-EBE6-73889ECF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1" y="2019626"/>
            <a:ext cx="5172046" cy="344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5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263CD9-8431-0EC3-01B1-D6083052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C2762C-349A-43E8-CC7F-90A9CC7D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8: Churn count By Number of Products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0A42560-BAB0-C2BE-7CE3-A0797049D646}"/>
              </a:ext>
            </a:extLst>
          </p:cNvPr>
          <p:cNvSpPr txBox="1"/>
          <p:nvPr/>
        </p:nvSpPr>
        <p:spPr>
          <a:xfrm>
            <a:off x="5705445" y="1850348"/>
            <a:ext cx="6054754" cy="378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High risk : 3-4 products (most unstable, high churn).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Moderate risk : 1 product.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,Sans-Serif"/>
              <a:buChar char="•"/>
            </a:pPr>
            <a:r>
              <a:rPr lang="en-US" sz="2000" b="1" dirty="0"/>
              <a:t>Low risk : 2 products (more loyal).</a:t>
            </a:r>
          </a:p>
          <a:p>
            <a:pPr marL="57150">
              <a:lnSpc>
                <a:spcPct val="110000"/>
              </a:lnSpc>
              <a:spcAft>
                <a:spcPts val="600"/>
              </a:spcAft>
            </a:pPr>
            <a:r>
              <a:rPr lang="en-US" sz="2000" b="1" dirty="0"/>
              <a:t>Recommendations: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	Address churn in 3-4 product customers via surveys and complaint analysis.</a:t>
            </a:r>
          </a:p>
          <a:p>
            <a:pPr marL="40005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Protect 2-product segment as the most stable group.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90E303C-77F4-8245-24CE-3A3142EFE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850348"/>
            <a:ext cx="5138490" cy="378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F5C113-FC32-6C46-B496-72E22999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01D08463-950C-91ED-0707-20B20501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9: Churn count By Tenure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4ABB041-485C-9F34-E95D-2BBB39AD2BB0}"/>
              </a:ext>
            </a:extLst>
          </p:cNvPr>
          <p:cNvSpPr txBox="1"/>
          <p:nvPr/>
        </p:nvSpPr>
        <p:spPr>
          <a:xfrm>
            <a:off x="5705445" y="1850348"/>
            <a:ext cx="6054754" cy="378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Churn </a:t>
            </a:r>
            <a:r>
              <a:rPr lang="en-GB" sz="2000" dirty="0"/>
              <a:t>peaks at 4-5 years ( mid-term risk).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000" dirty="0"/>
              <a:t>Lowest churn after 7 years </a:t>
            </a:r>
            <a:r>
              <a:rPr lang="en-US" sz="2000" dirty="0"/>
              <a:t>(High Loyalty).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000" dirty="0"/>
              <a:t>Early tenure churn lower than mid-term.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GB" sz="2000" b="1" dirty="0"/>
              <a:t>Recommendations:</a:t>
            </a:r>
          </a:p>
          <a:p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Engage customers  at 3-4 years </a:t>
            </a:r>
            <a:r>
              <a:rPr lang="en-US" sz="2000" dirty="0"/>
              <a:t> to prevent midterm attrition.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Reward Loyalty beyond 5 years.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feedback at year 4 to address churn  drivers.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D058B9E-E8A9-FF9B-9972-7376A3E2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1" y="1850348"/>
            <a:ext cx="5083178" cy="378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E234F5-F8F8-1BCB-B937-43E258BB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FEE79145-3D9B-B9D3-4332-FF5F2FFA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10: Distribution of Customers by Number of Products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7E263ED-3373-82CF-1EC5-C6CFEFC7E2CD}"/>
              </a:ext>
            </a:extLst>
          </p:cNvPr>
          <p:cNvSpPr txBox="1"/>
          <p:nvPr/>
        </p:nvSpPr>
        <p:spPr>
          <a:xfrm>
            <a:off x="5705445" y="1850348"/>
            <a:ext cx="60547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Majority holds </a:t>
            </a:r>
            <a:r>
              <a:rPr lang="en-US" sz="2000" b="1" dirty="0">
                <a:ea typeface="+mn-lt"/>
                <a:cs typeface="+mn-lt"/>
              </a:rPr>
              <a:t>only 1 or 2 products</a:t>
            </a:r>
            <a:r>
              <a:rPr lang="en-US" sz="2000" dirty="0">
                <a:ea typeface="+mn-lt"/>
                <a:cs typeface="+mn-lt"/>
              </a:rPr>
              <a:t>, with </a:t>
            </a:r>
            <a:r>
              <a:rPr lang="en-US" sz="2000" b="1" dirty="0">
                <a:ea typeface="+mn-lt"/>
                <a:cs typeface="+mn-lt"/>
              </a:rPr>
              <a:t>5.1K and 4.6K customers</a:t>
            </a:r>
            <a:r>
              <a:rPr lang="en-US" sz="2000" dirty="0">
                <a:ea typeface="+mn-lt"/>
                <a:cs typeface="+mn-lt"/>
              </a:rPr>
              <a:t> respectively.</a:t>
            </a:r>
          </a:p>
          <a:p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Very few with </a:t>
            </a:r>
            <a:r>
              <a:rPr lang="en-US" sz="2000" b="1" dirty="0">
                <a:ea typeface="+mn-lt"/>
                <a:cs typeface="+mn-lt"/>
              </a:rPr>
              <a:t>3+products</a:t>
            </a:r>
            <a:r>
              <a:rPr lang="en-US" sz="2000" dirty="0">
                <a:ea typeface="+mn-lt"/>
                <a:cs typeface="+mn-lt"/>
              </a:rPr>
              <a:t>, indicating </a:t>
            </a:r>
            <a:r>
              <a:rPr lang="en-US" sz="2000" b="1" dirty="0">
                <a:ea typeface="+mn-lt"/>
                <a:cs typeface="+mn-lt"/>
              </a:rPr>
              <a:t>low product penetration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This presents a </a:t>
            </a:r>
            <a:r>
              <a:rPr lang="en-US" sz="2000" b="1" dirty="0">
                <a:ea typeface="+mn-lt"/>
                <a:cs typeface="+mn-lt"/>
              </a:rPr>
              <a:t>cross-selling opportunity</a:t>
            </a:r>
            <a:r>
              <a:rPr lang="en-US" sz="2000" dirty="0">
                <a:ea typeface="+mn-lt"/>
                <a:cs typeface="+mn-lt"/>
              </a:rPr>
              <a:t> to boost multi-product adoption.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3B0C565-0371-FE2F-5E53-E168E4AB0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76" y="1850348"/>
            <a:ext cx="5192235" cy="334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55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55477B-8F53-3689-4114-A08DCA54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AE05321E-9926-A8C6-052C-F759E7A9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11: Churned Customers By Credit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CDEE946-9430-C01D-163F-41FC579603F9}"/>
              </a:ext>
            </a:extLst>
          </p:cNvPr>
          <p:cNvSpPr txBox="1"/>
          <p:nvPr/>
        </p:nvSpPr>
        <p:spPr>
          <a:xfrm>
            <a:off x="5705445" y="1850348"/>
            <a:ext cx="60547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Highest  churn : 600-699 scores.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Significant churn : 300-499 (Financial instability).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Lowest churn : 800-900(loyal, stable).</a:t>
            </a:r>
          </a:p>
          <a:p>
            <a:pPr lvl="0"/>
            <a:endParaRPr lang="en-US" sz="2000" dirty="0"/>
          </a:p>
          <a:p>
            <a:r>
              <a:rPr lang="en-US" sz="2000" b="1" dirty="0"/>
              <a:t>Recommendations:</a:t>
            </a:r>
          </a:p>
          <a:p>
            <a:endParaRPr lang="en-US" sz="2000" dirty="0"/>
          </a:p>
          <a:p>
            <a:pPr lvl="0"/>
            <a:r>
              <a:rPr lang="en-US" sz="2000" dirty="0"/>
              <a:t>Focus retention efforts on mid-credit score customers (600-699) , offer better service to reduce churn.</a:t>
            </a:r>
          </a:p>
          <a:p>
            <a:endParaRPr lang="en-US" sz="20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xmlns="" id="{AC199B09-57B1-80B4-34C9-3A410384966B}"/>
              </a:ext>
            </a:extLst>
          </p:cNvPr>
          <p:cNvGraphicFramePr/>
          <p:nvPr/>
        </p:nvGraphicFramePr>
        <p:xfrm>
          <a:off x="285776" y="1850348"/>
          <a:ext cx="5326459" cy="3577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431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5561C9-3957-2D1F-09EB-EFF3D456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0DA2B56-FD2C-9107-966B-DD3D535B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3" y="343949"/>
            <a:ext cx="9806731" cy="1040234"/>
          </a:xfrm>
        </p:spPr>
        <p:txBody>
          <a:bodyPr/>
          <a:lstStyle/>
          <a:p>
            <a:pPr algn="ctr"/>
            <a:r>
              <a:rPr lang="en-US" sz="4000" dirty="0"/>
              <a:t>Metric 12: Credit Card Holders By Age-Group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28FC50-6E8A-B259-B66F-FA8C58233757}"/>
              </a:ext>
            </a:extLst>
          </p:cNvPr>
          <p:cNvSpPr txBox="1"/>
          <p:nvPr/>
        </p:nvSpPr>
        <p:spPr>
          <a:xfrm>
            <a:off x="5705445" y="1850348"/>
            <a:ext cx="60547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Insights:</a:t>
            </a:r>
          </a:p>
          <a:p>
            <a:pPr lvl="0"/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Largest cardholders : 46-55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Strong adoption : 18-25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Lowest holding : 65+</a:t>
            </a:r>
          </a:p>
          <a:p>
            <a:pPr lvl="0"/>
            <a:endParaRPr lang="en-US" sz="2000" dirty="0"/>
          </a:p>
          <a:p>
            <a:r>
              <a:rPr lang="en-US" sz="2000" b="1" dirty="0"/>
              <a:t>Recommendations:</a:t>
            </a:r>
          </a:p>
          <a:p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Target 46-55 age group with premium cards and loyalty programs.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Engage 18-25 with student/entry level card for long term loyalty.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xmlns="" id="{987DA88C-36EC-6CC0-DC37-991D6831B2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966206"/>
              </p:ext>
            </p:extLst>
          </p:nvPr>
        </p:nvGraphicFramePr>
        <p:xfrm>
          <a:off x="245131" y="1850348"/>
          <a:ext cx="5232880" cy="3627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6737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02DE3E2-7BC0-A546-0AA9-DF899D410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269"/>
            <a:ext cx="12192000" cy="67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65BB30C-DF77-16B1-4893-557979C80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49"/>
            <a:ext cx="10872132" cy="680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01801D-433B-406D-56A4-74395CD8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6498EE9-7F5B-1BFB-F384-A9C55854F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9308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58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636AFE-AE0F-4DDE-C9B2-9F708F61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CE5C133-63C9-4ECF-743F-3BBF47C64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29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490" y="125835"/>
            <a:ext cx="5943600" cy="5963814"/>
          </a:xfrm>
        </p:spPr>
        <p:txBody>
          <a:bodyPr>
            <a:normAutofit/>
          </a:bodyPr>
          <a:lstStyle/>
          <a:p>
            <a:r>
              <a:rPr lang="en-US" dirty="0"/>
              <a:t>Tracks overall churn (active vs. exited).</a:t>
            </a:r>
          </a:p>
          <a:p>
            <a:r>
              <a:rPr lang="en-US" dirty="0"/>
              <a:t>Highlights at-risk segments by gender, age, and tenure.</a:t>
            </a:r>
          </a:p>
          <a:p>
            <a:r>
              <a:rPr lang="en-US" dirty="0"/>
              <a:t>Shows seasonal churn trends (monthly view).</a:t>
            </a:r>
          </a:p>
          <a:p>
            <a:r>
              <a:rPr lang="en-US" dirty="0"/>
              <a:t>Analyzes product engagement via credit card ownership.</a:t>
            </a:r>
          </a:p>
          <a:p>
            <a:r>
              <a:rPr lang="en-US" dirty="0"/>
              <a:t>Offers filters by country &amp; year for region-specific insights.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1099817-7E7A-9961-2E46-BBCDAAD0D17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sz="44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236</TotalTime>
  <Words>771</Words>
  <Application>Microsoft Office PowerPoint</Application>
  <PresentationFormat>Widescreen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Arial,Sans-Serif</vt:lpstr>
      <vt:lpstr>Calibri</vt:lpstr>
      <vt:lpstr>Calibri Light</vt:lpstr>
      <vt:lpstr>Celestial</vt:lpstr>
      <vt:lpstr>Bank CRM Analysis  Power Bi Project     By                  JAYESH MALI</vt:lpstr>
      <vt:lpstr>Agenda</vt:lpstr>
      <vt:lpstr>Introduction </vt:lpstr>
      <vt:lpstr>Problem Statement</vt:lpstr>
      <vt:lpstr>Data Overview</vt:lpstr>
      <vt:lpstr>Metric 1 : Customer Count By Age - Group</vt:lpstr>
      <vt:lpstr>Metric 2 : Number of  Customers by Gender</vt:lpstr>
      <vt:lpstr>Metric 3 : Country Wise Customers</vt:lpstr>
      <vt:lpstr>Metric 4: Gender wise Avg Income in each region</vt:lpstr>
      <vt:lpstr>Metric 5: Customers Joining By month and  Year</vt:lpstr>
      <vt:lpstr>Metric 6: Churn count By Region</vt:lpstr>
      <vt:lpstr>Metric 7: Churn count By Salary Bin</vt:lpstr>
      <vt:lpstr>Metric 8: Churn count By Number of Products</vt:lpstr>
      <vt:lpstr>Metric 9: Churn count By Tenure</vt:lpstr>
      <vt:lpstr>Metric 10: Distribution of Customers by Number of Products</vt:lpstr>
      <vt:lpstr>Metric 11: Churned Customers By Credit Scores</vt:lpstr>
      <vt:lpstr>Metric 12: Credit Card Holders By Age-Group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CRM Analysis  Power Bi Project     By                  JAYESH MALI</dc:title>
  <dc:creator>rachana sombathini</dc:creator>
  <cp:lastModifiedBy>Microsoft account</cp:lastModifiedBy>
  <cp:revision>3</cp:revision>
  <dcterms:created xsi:type="dcterms:W3CDTF">2025-09-05T13:36:53Z</dcterms:created>
  <dcterms:modified xsi:type="dcterms:W3CDTF">2026-08-16T09:56:42Z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